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2"/>
    <p:restoredTop sz="94610"/>
  </p:normalViewPr>
  <p:slideViewPr>
    <p:cSldViewPr snapToGrid="0" snapToObjects="1">
      <p:cViewPr varScale="1">
        <p:scale>
          <a:sx n="194" d="100"/>
          <a:sy n="194" d="100"/>
        </p:scale>
        <p:origin x="39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el Cruz" userId="353f5231-7632-4120-94c5-0786c12865a6" providerId="ADAL" clId="{DA699B43-9AF2-4598-AACB-EDF2CB45076B}"/>
    <pc:docChg chg="undo custSel addSld delSld modSld">
      <pc:chgData name="Manuel Cruz" userId="353f5231-7632-4120-94c5-0786c12865a6" providerId="ADAL" clId="{DA699B43-9AF2-4598-AACB-EDF2CB45076B}" dt="2026-03-16T21:35:59.231" v="6" actId="14100"/>
      <pc:docMkLst>
        <pc:docMk/>
      </pc:docMkLst>
      <pc:sldChg chg="modSp mod">
        <pc:chgData name="Manuel Cruz" userId="353f5231-7632-4120-94c5-0786c12865a6" providerId="ADAL" clId="{DA699B43-9AF2-4598-AACB-EDF2CB45076B}" dt="2026-03-16T21:31:32.999" v="5" actId="1076"/>
        <pc:sldMkLst>
          <pc:docMk/>
          <pc:sldMk cId="0" sldId="260"/>
        </pc:sldMkLst>
        <pc:spChg chg="mod">
          <ac:chgData name="Manuel Cruz" userId="353f5231-7632-4120-94c5-0786c12865a6" providerId="ADAL" clId="{DA699B43-9AF2-4598-AACB-EDF2CB45076B}" dt="2026-03-16T21:31:32.999" v="5" actId="1076"/>
          <ac:spMkLst>
            <pc:docMk/>
            <pc:sldMk cId="0" sldId="260"/>
            <ac:spMk id="14" creationId="{00000000-0000-0000-0000-000000000000}"/>
          </ac:spMkLst>
        </pc:spChg>
      </pc:sldChg>
      <pc:sldChg chg="add del">
        <pc:chgData name="Manuel Cruz" userId="353f5231-7632-4120-94c5-0786c12865a6" providerId="ADAL" clId="{DA699B43-9AF2-4598-AACB-EDF2CB45076B}" dt="2026-03-02T15:31:26.049" v="3" actId="47"/>
        <pc:sldMkLst>
          <pc:docMk/>
          <pc:sldMk cId="0" sldId="261"/>
        </pc:sldMkLst>
      </pc:sldChg>
      <pc:sldChg chg="add del">
        <pc:chgData name="Manuel Cruz" userId="353f5231-7632-4120-94c5-0786c12865a6" providerId="ADAL" clId="{DA699B43-9AF2-4598-AACB-EDF2CB45076B}" dt="2026-03-02T15:31:23.912" v="2" actId="47"/>
        <pc:sldMkLst>
          <pc:docMk/>
          <pc:sldMk cId="0" sldId="262"/>
        </pc:sldMkLst>
      </pc:sldChg>
      <pc:sldChg chg="modSp mod">
        <pc:chgData name="Manuel Cruz" userId="353f5231-7632-4120-94c5-0786c12865a6" providerId="ADAL" clId="{DA699B43-9AF2-4598-AACB-EDF2CB45076B}" dt="2026-03-16T21:35:59.231" v="6" actId="14100"/>
        <pc:sldMkLst>
          <pc:docMk/>
          <pc:sldMk cId="0" sldId="264"/>
        </pc:sldMkLst>
        <pc:spChg chg="mod">
          <ac:chgData name="Manuel Cruz" userId="353f5231-7632-4120-94c5-0786c12865a6" providerId="ADAL" clId="{DA699B43-9AF2-4598-AACB-EDF2CB45076B}" dt="2026-03-16T21:35:59.231" v="6" actId="14100"/>
          <ac:spMkLst>
            <pc:docMk/>
            <pc:sldMk cId="0" sldId="264"/>
            <ac:spMk id="20" creationId="{00000000-0000-0000-0000-000000000000}"/>
          </ac:spMkLst>
        </pc:spChg>
      </pc:sldChg>
    </pc:docChg>
  </pc:docChgLst>
  <pc:docChgLst>
    <pc:chgData name="Manuel Cruz" userId="353f5231-7632-4120-94c5-0786c12865a6" providerId="ADAL" clId="{AE206B37-0CBC-5E88-B03F-7E552CFD485B}"/>
    <pc:docChg chg="custSel modSld">
      <pc:chgData name="Manuel Cruz" userId="353f5231-7632-4120-94c5-0786c12865a6" providerId="ADAL" clId="{AE206B37-0CBC-5E88-B03F-7E552CFD485B}" dt="2026-02-25T17:28:34.760" v="110" actId="207"/>
      <pc:docMkLst>
        <pc:docMk/>
      </pc:docMkLst>
      <pc:sldChg chg="delSp modSp mod">
        <pc:chgData name="Manuel Cruz" userId="353f5231-7632-4120-94c5-0786c12865a6" providerId="ADAL" clId="{AE206B37-0CBC-5E88-B03F-7E552CFD485B}" dt="2026-02-23T21:01:25.891" v="77" actId="20577"/>
        <pc:sldMkLst>
          <pc:docMk/>
          <pc:sldMk cId="0" sldId="256"/>
        </pc:sldMkLst>
        <pc:spChg chg="mod">
          <ac:chgData name="Manuel Cruz" userId="353f5231-7632-4120-94c5-0786c12865a6" providerId="ADAL" clId="{AE206B37-0CBC-5E88-B03F-7E552CFD485B}" dt="2026-02-23T20:29:49.436" v="1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Manuel Cruz" userId="353f5231-7632-4120-94c5-0786c12865a6" providerId="ADAL" clId="{AE206B37-0CBC-5E88-B03F-7E552CFD485B}" dt="2026-02-23T21:01:25.891" v="77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Manuel Cruz" userId="353f5231-7632-4120-94c5-0786c12865a6" providerId="ADAL" clId="{AE206B37-0CBC-5E88-B03F-7E552CFD485B}" dt="2026-02-23T20:59:30.823" v="4" actId="20577"/>
        <pc:sldMkLst>
          <pc:docMk/>
          <pc:sldMk cId="0" sldId="257"/>
        </pc:sldMkLst>
        <pc:spChg chg="mod">
          <ac:chgData name="Manuel Cruz" userId="353f5231-7632-4120-94c5-0786c12865a6" providerId="ADAL" clId="{AE206B37-0CBC-5E88-B03F-7E552CFD485B}" dt="2026-02-23T20:59:30.823" v="4" actId="20577"/>
          <ac:spMkLst>
            <pc:docMk/>
            <pc:sldMk cId="0" sldId="257"/>
            <ac:spMk id="26" creationId="{00000000-0000-0000-0000-000000000000}"/>
          </ac:spMkLst>
        </pc:spChg>
      </pc:sldChg>
      <pc:sldChg chg="modSp mod">
        <pc:chgData name="Manuel Cruz" userId="353f5231-7632-4120-94c5-0786c12865a6" providerId="ADAL" clId="{AE206B37-0CBC-5E88-B03F-7E552CFD485B}" dt="2026-02-23T20:59:37.027" v="7" actId="20577"/>
        <pc:sldMkLst>
          <pc:docMk/>
          <pc:sldMk cId="0" sldId="258"/>
        </pc:sldMkLst>
        <pc:spChg chg="mod">
          <ac:chgData name="Manuel Cruz" userId="353f5231-7632-4120-94c5-0786c12865a6" providerId="ADAL" clId="{AE206B37-0CBC-5E88-B03F-7E552CFD485B}" dt="2026-02-23T20:59:37.027" v="7" actId="20577"/>
          <ac:spMkLst>
            <pc:docMk/>
            <pc:sldMk cId="0" sldId="258"/>
            <ac:spMk id="44" creationId="{00000000-0000-0000-0000-000000000000}"/>
          </ac:spMkLst>
        </pc:spChg>
      </pc:sldChg>
      <pc:sldChg chg="modSp mod">
        <pc:chgData name="Manuel Cruz" userId="353f5231-7632-4120-94c5-0786c12865a6" providerId="ADAL" clId="{AE206B37-0CBC-5E88-B03F-7E552CFD485B}" dt="2026-02-23T20:59:41.034" v="10" actId="20577"/>
        <pc:sldMkLst>
          <pc:docMk/>
          <pc:sldMk cId="0" sldId="259"/>
        </pc:sldMkLst>
        <pc:spChg chg="mod">
          <ac:chgData name="Manuel Cruz" userId="353f5231-7632-4120-94c5-0786c12865a6" providerId="ADAL" clId="{AE206B37-0CBC-5E88-B03F-7E552CFD485B}" dt="2026-02-23T20:59:41.034" v="10" actId="20577"/>
          <ac:spMkLst>
            <pc:docMk/>
            <pc:sldMk cId="0" sldId="259"/>
            <ac:spMk id="50" creationId="{00000000-0000-0000-0000-000000000000}"/>
          </ac:spMkLst>
        </pc:spChg>
      </pc:sldChg>
      <pc:sldChg chg="modSp mod">
        <pc:chgData name="Manuel Cruz" userId="353f5231-7632-4120-94c5-0786c12865a6" providerId="ADAL" clId="{AE206B37-0CBC-5E88-B03F-7E552CFD485B}" dt="2026-02-23T20:59:45.259" v="13" actId="20577"/>
        <pc:sldMkLst>
          <pc:docMk/>
          <pc:sldMk cId="0" sldId="260"/>
        </pc:sldMkLst>
        <pc:spChg chg="mod">
          <ac:chgData name="Manuel Cruz" userId="353f5231-7632-4120-94c5-0786c12865a6" providerId="ADAL" clId="{AE206B37-0CBC-5E88-B03F-7E552CFD485B}" dt="2026-02-23T20:59:45.259" v="13" actId="20577"/>
          <ac:spMkLst>
            <pc:docMk/>
            <pc:sldMk cId="0" sldId="260"/>
            <ac:spMk id="23" creationId="{00000000-0000-0000-0000-000000000000}"/>
          </ac:spMkLst>
        </pc:spChg>
      </pc:sldChg>
      <pc:sldChg chg="modSp mod">
        <pc:chgData name="Manuel Cruz" userId="353f5231-7632-4120-94c5-0786c12865a6" providerId="ADAL" clId="{AE206B37-0CBC-5E88-B03F-7E552CFD485B}" dt="2026-02-25T17:28:34.760" v="110" actId="207"/>
        <pc:sldMkLst>
          <pc:docMk/>
          <pc:sldMk cId="0" sldId="263"/>
        </pc:sldMkLst>
        <pc:spChg chg="mod">
          <ac:chgData name="Manuel Cruz" userId="353f5231-7632-4120-94c5-0786c12865a6" providerId="ADAL" clId="{AE206B37-0CBC-5E88-B03F-7E552CFD485B}" dt="2026-02-25T17:28:34.760" v="110" actId="207"/>
          <ac:spMkLst>
            <pc:docMk/>
            <pc:sldMk cId="0" sldId="263"/>
            <ac:spMk id="21" creationId="{00000000-0000-0000-0000-000000000000}"/>
          </ac:spMkLst>
        </pc:spChg>
        <pc:spChg chg="mod">
          <ac:chgData name="Manuel Cruz" userId="353f5231-7632-4120-94c5-0786c12865a6" providerId="ADAL" clId="{AE206B37-0CBC-5E88-B03F-7E552CFD485B}" dt="2026-02-25T17:27:38.969" v="106" actId="20577"/>
          <ac:spMkLst>
            <pc:docMk/>
            <pc:sldMk cId="0" sldId="263"/>
            <ac:spMk id="22" creationId="{00000000-0000-0000-0000-000000000000}"/>
          </ac:spMkLst>
        </pc:spChg>
        <pc:spChg chg="mod">
          <ac:chgData name="Manuel Cruz" userId="353f5231-7632-4120-94c5-0786c12865a6" providerId="ADAL" clId="{AE206B37-0CBC-5E88-B03F-7E552CFD485B}" dt="2026-02-23T21:00:00.537" v="22" actId="20577"/>
          <ac:spMkLst>
            <pc:docMk/>
            <pc:sldMk cId="0" sldId="263"/>
            <ac:spMk id="52" creationId="{00000000-0000-0000-0000-000000000000}"/>
          </ac:spMkLst>
        </pc:spChg>
      </pc:sldChg>
      <pc:sldChg chg="modSp mod">
        <pc:chgData name="Manuel Cruz" userId="353f5231-7632-4120-94c5-0786c12865a6" providerId="ADAL" clId="{AE206B37-0CBC-5E88-B03F-7E552CFD485B}" dt="2026-02-23T21:00:05.570" v="25" actId="20577"/>
        <pc:sldMkLst>
          <pc:docMk/>
          <pc:sldMk cId="0" sldId="264"/>
        </pc:sldMkLst>
        <pc:spChg chg="mod">
          <ac:chgData name="Manuel Cruz" userId="353f5231-7632-4120-94c5-0786c12865a6" providerId="ADAL" clId="{AE206B37-0CBC-5E88-B03F-7E552CFD485B}" dt="2026-02-23T21:00:05.570" v="25" actId="20577"/>
          <ac:spMkLst>
            <pc:docMk/>
            <pc:sldMk cId="0" sldId="264"/>
            <ac:spMk id="33" creationId="{00000000-0000-0000-0000-000000000000}"/>
          </ac:spMkLst>
        </pc:spChg>
      </pc:sldChg>
      <pc:sldChg chg="modSp mod">
        <pc:chgData name="Manuel Cruz" userId="353f5231-7632-4120-94c5-0786c12865a6" providerId="ADAL" clId="{AE206B37-0CBC-5E88-B03F-7E552CFD485B}" dt="2026-02-23T21:00:35.336" v="58" actId="20577"/>
        <pc:sldMkLst>
          <pc:docMk/>
          <pc:sldMk cId="0" sldId="265"/>
        </pc:sldMkLst>
        <pc:spChg chg="mod">
          <ac:chgData name="Manuel Cruz" userId="353f5231-7632-4120-94c5-0786c12865a6" providerId="ADAL" clId="{AE206B37-0CBC-5E88-B03F-7E552CFD485B}" dt="2026-02-23T21:00:35.336" v="58" actId="20577"/>
          <ac:spMkLst>
            <pc:docMk/>
            <pc:sldMk cId="0" sldId="265"/>
            <ac:spMk id="3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484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522476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Waiver</a:t>
            </a:r>
            <a:endParaRPr lang="en-US" sz="3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Platform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371600" y="3611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Email Classification &amp; Document Assembly for Insurance Operations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4160520"/>
            <a:ext cx="2743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AcentoPartners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4617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2026  |  Phase In Progress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pain points in waiver request processing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002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Email Triage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0116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manually read and classify emails from 10+ lenders with different waiver types, triggers, and document requirements.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1371600"/>
            <a:ext cx="54864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6002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Documents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029200" y="20116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documents (ACORD forms, SOVs, policies, loss runs) are spread across SharePoint, OneDrive, databases, and local drives.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57200" y="306324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54864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918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Assembly Rules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31520" y="37033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lender/waiver combination requires a specific WaiverPack with unique evidence, endorsements, and response formats.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754880" y="306324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754880" y="3063240"/>
            <a:ext cx="54864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29184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Risk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029200" y="37033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deadlines or incorrect documentation leads to non-compliance flags from Capital One, JLL, Freddie Mac, CBRE, M&amp;T Bank, and others.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by OGM for AcentoPartners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AI pipeline: from email to response in minutes, not hours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914400" cy="914400"/>
          </a:xfrm>
          <a:prstGeom prst="ellipse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463040"/>
            <a:ext cx="822960" cy="82296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6459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2651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+ OCR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7380" y="173736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23160" y="1417320"/>
            <a:ext cx="914400" cy="914400"/>
          </a:xfrm>
          <a:prstGeom prst="ellipse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2468880" y="1463040"/>
            <a:ext cx="822960" cy="82296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" y="16459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286000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2286000" y="2651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+ KB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020" y="173736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160520" y="14630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164592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977640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3977640" y="2651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Multi-source</a:t>
            </a:r>
            <a:endParaRPr lang="en-US" sz="9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0660" y="1737360"/>
            <a:ext cx="274320" cy="2743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852160" y="14630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0" y="1645920"/>
            <a:ext cx="457200" cy="4572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669280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5669280" y="2651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WaiverPack</a:t>
            </a:r>
            <a:endParaRPr lang="en-US" sz="9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1737360"/>
            <a:ext cx="274320" cy="27432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7543800" y="14630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0" y="1645920"/>
            <a:ext cx="457200" cy="4572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7360920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</a:t>
            </a:r>
            <a:endParaRPr lang="en-US" sz="1200" dirty="0"/>
          </a:p>
        </p:txBody>
      </p:sp>
      <p:sp>
        <p:nvSpPr>
          <p:cNvPr id="30" name="Text 19"/>
          <p:cNvSpPr/>
          <p:nvPr/>
        </p:nvSpPr>
        <p:spPr>
          <a:xfrm>
            <a:off x="7360920" y="2651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+ Send</a:t>
            </a:r>
            <a:endParaRPr lang="en-US" sz="900" dirty="0"/>
          </a:p>
        </p:txBody>
      </p:sp>
      <p:sp>
        <p:nvSpPr>
          <p:cNvPr id="31" name="Shape 20"/>
          <p:cNvSpPr/>
          <p:nvPr/>
        </p:nvSpPr>
        <p:spPr>
          <a:xfrm>
            <a:off x="502920" y="2971800"/>
            <a:ext cx="3063240" cy="2743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1"/>
          <p:cNvSpPr/>
          <p:nvPr/>
        </p:nvSpPr>
        <p:spPr>
          <a:xfrm>
            <a:off x="502920" y="2971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COMPLETE</a:t>
            </a:r>
            <a:endParaRPr lang="en-US" sz="900" dirty="0"/>
          </a:p>
        </p:txBody>
      </p:sp>
      <p:sp>
        <p:nvSpPr>
          <p:cNvPr id="33" name="Shape 22"/>
          <p:cNvSpPr/>
          <p:nvPr/>
        </p:nvSpPr>
        <p:spPr>
          <a:xfrm>
            <a:off x="457200" y="32461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3474720"/>
            <a:ext cx="274320" cy="27432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86868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Classification</a:t>
            </a:r>
            <a:endParaRPr lang="en-US" sz="1100" dirty="0"/>
          </a:p>
        </p:txBody>
      </p:sp>
      <p:sp>
        <p:nvSpPr>
          <p:cNvPr id="36" name="Text 24"/>
          <p:cNvSpPr/>
          <p:nvPr/>
        </p:nvSpPr>
        <p:spPr>
          <a:xfrm>
            <a:off x="502920" y="37947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classifies emails by lender + waiver type using local LLM (Ollama) with knowledge base context and domain detection.</a:t>
            </a:r>
            <a:endParaRPr lang="en-US" sz="90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7560" y="3474720"/>
            <a:ext cx="274320" cy="274320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370332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39" name="Text 26"/>
          <p:cNvSpPr/>
          <p:nvPr/>
        </p:nvSpPr>
        <p:spPr>
          <a:xfrm>
            <a:off x="3337560" y="37947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queue for medium/low confidence. Operators approve or correct. Corrections enrich from knowledge base automatically.</a:t>
            </a:r>
            <a:endParaRPr lang="en-US" sz="90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3474720"/>
            <a:ext cx="274320" cy="274320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53796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Multi-Label Detection</a:t>
            </a:r>
            <a:endParaRPr lang="en-US" sz="1100" dirty="0"/>
          </a:p>
        </p:txBody>
      </p:sp>
      <p:sp>
        <p:nvSpPr>
          <p:cNvPr id="42" name="Text 28"/>
          <p:cNvSpPr/>
          <p:nvPr/>
        </p:nvSpPr>
        <p:spPr>
          <a:xfrm>
            <a:off x="6172200" y="37947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primary + secondary compliance issues per email. Domain-aware hints (TO &gt; CC &gt; FROM) for lender identification.</a:t>
            </a:r>
            <a:endParaRPr lang="en-US" sz="900" dirty="0"/>
          </a:p>
        </p:txBody>
      </p:sp>
      <p:sp>
        <p:nvSpPr>
          <p:cNvPr id="43" name="Shape 2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0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by OGM for AcentoPartners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Delivered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0" y="347472"/>
            <a:ext cx="1554480" cy="3657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0" y="3474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classification engine validated with 7 real production emails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41148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— FastAPI + Ollama</a:t>
            </a:r>
            <a:endParaRPr lang="en-US" sz="1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20240"/>
            <a:ext cx="164592" cy="1645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18928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async server with SQLAlchemy + SQLite</a:t>
            </a:r>
            <a:endParaRPr lang="en-US" sz="9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12848"/>
            <a:ext cx="164592" cy="164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1854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LLM integration (llama3.1:8b local)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05456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24780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.eml parser: FROM, TO, CC, body, attachments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98064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840" y="27706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Base: 9 lenders, 11 waiver entries</a:t>
            </a:r>
            <a:endParaRPr lang="en-US" sz="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90672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05840" y="30632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Domain-aware lender detection (TO &gt; CC &gt; FROM)</a:t>
            </a:r>
            <a:endParaRPr lang="en-US" sz="9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83280"/>
            <a:ext cx="164592" cy="16459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05840" y="33558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Multi-label classification (primary + secondary)</a:t>
            </a:r>
            <a:endParaRPr lang="en-US" sz="9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75888"/>
            <a:ext cx="164592" cy="16459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005840" y="36484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scoring: high / medium / low routing</a:t>
            </a:r>
            <a:endParaRPr lang="en-US" sz="9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68496"/>
            <a:ext cx="164592" cy="16459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1005840" y="39410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queue + approve/correct API endpoints</a:t>
            </a:r>
            <a:endParaRPr lang="en-US" sz="9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61104"/>
            <a:ext cx="164592" cy="164592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1005840" y="42336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re-enrichment on corrections</a:t>
            </a:r>
            <a:endParaRPr lang="en-US" sz="900" dirty="0"/>
          </a:p>
        </p:txBody>
      </p:sp>
      <p:sp>
        <p:nvSpPr>
          <p:cNvPr id="28" name="Shape 17"/>
          <p:cNvSpPr/>
          <p:nvPr/>
        </p:nvSpPr>
        <p:spPr>
          <a:xfrm>
            <a:off x="4754880" y="132588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18"/>
          <p:cNvSpPr/>
          <p:nvPr/>
        </p:nvSpPr>
        <p:spPr>
          <a:xfrm>
            <a:off x="4754880" y="1325880"/>
            <a:ext cx="402336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19"/>
          <p:cNvSpPr/>
          <p:nvPr/>
        </p:nvSpPr>
        <p:spPr>
          <a:xfrm>
            <a:off x="502920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— React</a:t>
            </a:r>
            <a:endParaRPr lang="en-US" sz="14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920240"/>
            <a:ext cx="164592" cy="16459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303520" y="1892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 overview: total, avg confidence, auto-rate</a:t>
            </a:r>
            <a:endParaRPr lang="en-US" sz="90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12848"/>
            <a:ext cx="164592" cy="164592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5303520" y="21854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Charts: by lender (color-coded) + by waiver type</a:t>
            </a:r>
            <a:endParaRPr lang="en-US" sz="90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505456"/>
            <a:ext cx="164592" cy="164592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5303520" y="24780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tab: upload .eml or batch folder</a:t>
            </a:r>
            <a:endParaRPr lang="en-US" sz="9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798064"/>
            <a:ext cx="164592" cy="164592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5303520" y="2770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tab: all classifications with status badges</a:t>
            </a:r>
            <a:endParaRPr lang="en-US" sz="900" dirty="0"/>
          </a:p>
        </p:txBody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090672"/>
            <a:ext cx="164592" cy="164592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5303520" y="3063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Queue with pending count badge</a:t>
            </a:r>
            <a:endParaRPr lang="en-US" sz="900" dirty="0"/>
          </a:p>
        </p:txBody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383280"/>
            <a:ext cx="164592" cy="164592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5303520" y="33558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 modal: approve or correct with dropdowns</a:t>
            </a:r>
            <a:endParaRPr lang="en-US" sz="900" dirty="0"/>
          </a:p>
        </p:txBody>
      </p:sp>
      <p:pic>
        <p:nvPicPr>
          <p:cNvPr id="43" name="Image 1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675888"/>
            <a:ext cx="164592" cy="164592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5303520" y="36484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waiver filtering by lender (valid combos)</a:t>
            </a:r>
            <a:endParaRPr lang="en-US" sz="900" dirty="0"/>
          </a:p>
        </p:txBody>
      </p:sp>
      <p:pic>
        <p:nvPicPr>
          <p:cNvPr id="45" name="Image 1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968496"/>
            <a:ext cx="164592" cy="164592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5303520" y="39410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modal: full KB-enriched classification view</a:t>
            </a:r>
            <a:endParaRPr lang="en-US" sz="900" dirty="0"/>
          </a:p>
        </p:txBody>
      </p:sp>
      <p:pic>
        <p:nvPicPr>
          <p:cNvPr id="47" name="Image 1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261104"/>
            <a:ext cx="164592" cy="164592"/>
          </a:xfrm>
          <a:prstGeom prst="rect">
            <a:avLst/>
          </a:prstGeom>
        </p:spPr>
      </p:pic>
      <p:sp>
        <p:nvSpPr>
          <p:cNvPr id="48" name="Text 28"/>
          <p:cNvSpPr/>
          <p:nvPr/>
        </p:nvSpPr>
        <p:spPr>
          <a:xfrm>
            <a:off x="5303520" y="42336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 rate tracking in stats dashboard</a:t>
            </a:r>
            <a:endParaRPr lang="en-US" sz="900" dirty="0"/>
          </a:p>
        </p:txBody>
      </p:sp>
      <p:sp>
        <p:nvSpPr>
          <p:cNvPr id="49" name="Shape 2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30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by OGM for AcentoPartners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Validation: 7 Real Production Emails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detection achieved 7/7 correct lender identification on first real email batch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949440" cy="2340864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Subject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Lender Detected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Insurance coverage deficiency (Westwinds)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CBRE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cbre.com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Liability Review Questions - SAM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JLL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jll.com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2nd Notice Non-Compliance (Ashland)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 One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cmservicing.com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2nd Notice Non-Compliance (Centre)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 One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cmservicing.com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Hunters Crossing - Multi-issue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M&amp;T Bank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mtb.com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Burnam Woods - Annual Review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NEWMARK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nmrk.com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Chatham Garden - Annual Review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NEWMARK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nmrk.com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365760" y="3657600"/>
            <a:ext cx="1965960" cy="9144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65760" y="3657600"/>
            <a:ext cx="1965960" cy="457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37490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7/7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88720" y="37490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60320" y="3657600"/>
            <a:ext cx="1965960" cy="9144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560320" y="3657600"/>
            <a:ext cx="196596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560320" y="37490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383280" y="37490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Lenders 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54880" y="3657600"/>
            <a:ext cx="1965960" cy="9144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754880" y="3657600"/>
            <a:ext cx="1965960" cy="457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54880" y="37490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577840" y="37490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Waiver Type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Entries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949440" y="3657600"/>
            <a:ext cx="1965960" cy="9144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949440" y="3657600"/>
            <a:ext cx="196596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949440" y="37490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772400" y="37490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Lenders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Discovered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by OGM for AcentoPartners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stack — running and validated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4864" cy="4754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86000" y="123444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(async)  •  Uvicorn  •  Pydantic schemas  •  REST endpoints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0" y="1344168"/>
            <a:ext cx="685800" cy="25603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863840" y="13441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54864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18288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86000" y="182880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llama3.1:8b (local)  •  Knowledge Base RAG  •  Domain Detection  •  Multi-label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63840" y="1938528"/>
            <a:ext cx="685800" cy="25603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863840" y="19385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57200" y="2423160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423160"/>
            <a:ext cx="54864" cy="47548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24231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Parsing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286000" y="242316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mail-parser (.eml)  •  TO/CC/FROM extraction  •  Attachment indexing  •  Body truncation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863840" y="2532888"/>
            <a:ext cx="685800" cy="25603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863840" y="25328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54864" cy="475488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30175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286000" y="301752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async  •  SQLite (dev) / PostgreSQL (prod)  •  aiosqlite driver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863840" y="3127248"/>
            <a:ext cx="685800" cy="25603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63840" y="312724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57200" y="3611880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" y="3611880"/>
            <a:ext cx="54864" cy="4754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5800" y="36118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286000" y="361188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 •  Tailwind  •  Charts  •  Review Queue  •  Correction Modal  •  Stats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863840" y="3721608"/>
            <a:ext cx="685800" cy="25603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863840" y="37216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Microsoft Graph API integration for live Outlook mailbox polling  •  Local-first: Ollama on-premise, no data leaves your network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by OGM for AcentoPartners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Engine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Domain-aware LLM classification with human-in-the-loop correction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Flow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Email arrives  →  .eml parsed (TO, CC, FROM, body)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221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Domain detection identifies lender (TO &gt; CC &gt; FROM)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523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LLM receives email + KB context + domain hint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8254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Returns: lender, primary waiver, secondary issues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Confidence score determines routing: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3429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&gt;85%: Auto-process (no human needed)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3730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60-85%: Human review queue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40325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&lt;60%: Manual classification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43342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Corrections re-enrich KB fields automatically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13258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2064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(9 Lenders)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920240"/>
          <a:ext cx="3566160" cy="24688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Lender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Waiver Types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JLL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A&amp;B, SAM, EB Limit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 One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Policy Package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Freddie Mac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AI/Mortgagee Wording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Grandbridge/KeyBank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OL/BI/EPI Specifics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Berkadia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Invoice &amp; Address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NEWMARK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Address / Excess Lines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Greystone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ACORD-gate &amp; Umbrella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CBRE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Compliance ★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M&amp;T Bank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Multi-issue Compliance ★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029200" y="42519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New lenders added from real email analysis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by OGM for AcentoPartners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Timeline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weeks (10 sprints) — Phase 1 complete, Phase 2 ready to start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73152" cy="41148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94560" y="12801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W1-4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0" y="1353312"/>
            <a:ext cx="731520" cy="25603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0" y="13533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S1-S2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40480" y="12801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FastAPI, Ollama, .eml parser, SQLite, CI/CD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818120" y="1353312"/>
            <a:ext cx="777240" cy="25603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18120" y="13533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178308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1783080"/>
            <a:ext cx="73152" cy="41148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17830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W5-8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26080" y="1856232"/>
            <a:ext cx="731520" cy="25603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26080" y="18562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S3-S4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40480" y="17830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Engine, Knowledge Base, Confidence, Review UI, Corrections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818120" y="1856232"/>
            <a:ext cx="777240" cy="2560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7818120" y="18562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28600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2286000"/>
            <a:ext cx="73152" cy="4114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2286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94560" y="22860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W7-10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926080" y="2359152"/>
            <a:ext cx="731520" cy="25603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926080" y="23591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S4-S5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40480" y="22860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SharePoint, OneDrive, DB Connectors, Unified API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2788920"/>
            <a:ext cx="73152" cy="4114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2788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194560" y="27889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W9-14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926080" y="2862072"/>
            <a:ext cx="731520" cy="2560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926080" y="28620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S5-S7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840480" y="2788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WaiverPack Builder, ACORD Auto-fill, Response Drafting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7200" y="329184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0080" y="3291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194560" y="32918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W13-18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926080" y="3364992"/>
            <a:ext cx="731520" cy="2560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926080" y="33649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S7-S9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840480" y="32918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Engine, Templates, SLA Monitoring, Dashboard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57200" y="3794760"/>
            <a:ext cx="73152" cy="411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0080" y="3794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194560" y="37947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W19-20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926080" y="3867912"/>
            <a:ext cx="731520" cy="25603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926080" y="38679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840480" y="37947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UAT, Training, Bug Fixes, Production Deployment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W4: Classification demo ✓  |  W10: End-to-end prototype  |  W16: Full integration  |  W20: Go-live  —  Confidential — OGM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Outcomes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965960" cy="15544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965960" cy="54864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 Detection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(domain-based)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143000"/>
            <a:ext cx="1965960" cy="15544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6596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0" y="13716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0" y="2011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Auto-Process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(high conf)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1965960" cy="15544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1143000"/>
            <a:ext cx="196596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3716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&lt;5 min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54880" y="2011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to Response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(from hours)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1143000"/>
            <a:ext cx="1965960" cy="15544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949440" y="114300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49440" y="13716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49440" y="2011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8229600" cy="1682496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14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93008"/>
            <a:ext cx="182880" cy="1828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05840" y="347472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manual email triage — operators focus on exceptions, not routine classification</a:t>
            </a:r>
            <a:endParaRPr lang="en-US" sz="95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49040"/>
            <a:ext cx="182880" cy="1828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05840" y="373075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response time from hours to minutes with automated document assembly</a:t>
            </a:r>
            <a:endParaRPr lang="en-US" sz="95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05072"/>
            <a:ext cx="182880" cy="1828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005840" y="398678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missed deadlines with SLA monitoring and proactive alerts per lender</a:t>
            </a:r>
            <a:endParaRPr lang="en-US" sz="95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61104"/>
            <a:ext cx="182880" cy="1828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05840" y="424281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improvement — corrections feed back to improve accuracy over time</a:t>
            </a:r>
            <a:endParaRPr lang="en-US" sz="95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17136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05840" y="449884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compliance audit trail for every waiver request processed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by OGM for AcentoPartners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1965960" cy="23774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1965960" cy="457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28700" y="173736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87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with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926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Phase 1 on your machine with real emails and validate LLM accuracy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3474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1508760"/>
            <a:ext cx="1965960" cy="23774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60320" y="1508760"/>
            <a:ext cx="196596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23260" y="17373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232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9748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2926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Microsoft Graph API for live mailbox polling and auto-classify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697480" y="3474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508760"/>
            <a:ext cx="1965960" cy="23774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1508760"/>
            <a:ext cx="196596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17820" y="17373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178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9204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2926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SharePoint + OneDrive connectors for automated document retrieval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92040" y="3474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49440" y="1508760"/>
            <a:ext cx="1965960" cy="23774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949440" y="1508760"/>
            <a:ext cx="196596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612380" y="17373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6123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08660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WaiverPack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86600" y="2926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Auto-assemble response packages per lender rules with ACORD auto-fill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086600" y="3474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0" y="4251960"/>
            <a:ext cx="36576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1440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delivered. Ready for production testing.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440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OGM  • Technology Services  • </a:t>
            </a:r>
            <a:r>
              <a:rPr lang="en-US" sz="10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manuel.cruz@ogm.com.co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2761</TotalTime>
  <Words>1167</Words>
  <Application>Microsoft Office PowerPoint</Application>
  <PresentationFormat>On-screen Show (16:9)</PresentationFormat>
  <Paragraphs>251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AcentoPartners - AI-Powered Waiver Management Platform - Updated</dc:title>
  <dc:subject>PptxGenJS Presentation</dc:subject>
  <dc:creator>Protectux</dc:creator>
  <cp:lastModifiedBy>Manuel Alejandro Cruz Garcia</cp:lastModifiedBy>
  <cp:revision>1</cp:revision>
  <dcterms:created xsi:type="dcterms:W3CDTF">2026-02-23T19:44:40Z</dcterms:created>
  <dcterms:modified xsi:type="dcterms:W3CDTF">2026-03-16T21:36:08Z</dcterms:modified>
</cp:coreProperties>
</file>